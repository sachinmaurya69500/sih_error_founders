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720"/>
          </a:solidFill>
          <a:ln w="12700">
            <a:solidFill>
              <a:srgbClr val="0D27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02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6A8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ECOSHIELD  /  ENVIRONMENTAL INTELLIGENCE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320040"/>
            <a:ext cx="2011680" cy="2011680"/>
          </a:xfrm>
          <a:prstGeom prst="ellipse">
            <a:avLst/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850392"/>
            <a:ext cx="960120" cy="960120"/>
          </a:xfrm>
          <a:prstGeom prst="ellipse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6688" y="1124712"/>
            <a:ext cx="411480" cy="411480"/>
          </a:xfrm>
          <a:prstGeom prst="ellipse">
            <a:avLst/>
          </a:prstGeom>
          <a:solidFill>
            <a:srgbClr val="071412"/>
          </a:solidFill>
          <a:ln w="12700">
            <a:solidFill>
              <a:srgbClr val="0714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26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ECOSHIELD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for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changing planet.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94944" y="37033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real-time risk command center that turns weather, rainfall, air quality, fire, and satellite signals into decisions people can act 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" y="4800600"/>
            <a:ext cx="2697480" cy="292608"/>
          </a:xfrm>
          <a:prstGeom prst="roundRect">
            <a:avLst>
              <a:gd name="adj" fmla="val 43750"/>
            </a:avLst>
          </a:prstGeom>
          <a:solidFill>
            <a:srgbClr val="12352D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481888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2026  /  TEAM ECOSHIELD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79792" y="1956816"/>
            <a:ext cx="3822192" cy="2743200"/>
          </a:xfrm>
          <a:prstGeom prst="roundRect">
            <a:avLst>
              <a:gd name="adj" fmla="val 4000"/>
            </a:avLst>
          </a:prstGeom>
          <a:solidFill>
            <a:srgbClr val="102A23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2677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RISK PULSE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90688" y="267004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034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18120" y="3456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ELEVATED CONDITIONS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8120" y="3858768"/>
            <a:ext cx="3108960" cy="0"/>
          </a:xfrm>
          <a:prstGeom prst="line">
            <a:avLst/>
          </a:prstGeom>
          <a:noFill/>
          <a:ln w="254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818120" y="3858768"/>
            <a:ext cx="1984248" cy="0"/>
          </a:xfrm>
          <a:prstGeom prst="line">
            <a:avLst/>
          </a:prstGeom>
          <a:noFill/>
          <a:ln w="25400">
            <a:solidFill>
              <a:srgbClr val="FFBE69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818120" y="41330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 68    Fire 42    Pollution 76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01400" y="60807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risk is fragmented.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exist. Decisions do not. Communities need one clear picture before a crisis compounds.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214884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4231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28529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silos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Weather, rainfall, pollution, fire, and satellite data live in separate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0392" y="4160520"/>
            <a:ext cx="731520" cy="0"/>
          </a:xfrm>
          <a:prstGeom prst="line">
            <a:avLst/>
          </a:prstGeom>
          <a:noFill/>
          <a:ln w="38100">
            <a:solidFill>
              <a:srgbClr val="6DAAF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443984" y="214884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24231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2584" y="28529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 to act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2584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that only reports the past cannot support early action.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2584" y="4160520"/>
            <a:ext cx="731520" cy="0"/>
          </a:xfrm>
          <a:prstGeom prst="line">
            <a:avLst/>
          </a:prstGeom>
          <a:noFill/>
          <a:ln w="38100">
            <a:solidFill>
              <a:srgbClr val="FFBE6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266176" y="214884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776" y="24231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94776" y="28529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hard to trust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94776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Black-box scores hide the evidence behind a warning.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94776" y="4160520"/>
            <a:ext cx="731520" cy="0"/>
          </a:xfrm>
          <a:prstGeom prst="line">
            <a:avLst/>
          </a:prstGeom>
          <a:noFill/>
          <a:ln w="38100">
            <a:solidFill>
              <a:srgbClr val="FF7C82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58368" y="5166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is not data. The gap is interpretation.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61996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disconnected observations to one operational 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EcoShield connects the signal chain.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transparent, location-aware platform for monitoring, comparing, explaining, and acting on environmental risk.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102A23"/>
          </a:solidFill>
          <a:ln w="12700">
            <a:solidFill>
              <a:srgbClr val="6DA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256032" cy="256032"/>
          </a:xfrm>
          <a:prstGeom prst="ellipse">
            <a:avLst/>
          </a:prstGeom>
          <a:solidFill>
            <a:srgbClr val="6DAAFF"/>
          </a:solidFill>
          <a:ln w="12700">
            <a:solidFill>
              <a:srgbClr val="6D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D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CPCB / data.gov.in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NASA FIRMS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3127248"/>
            <a:ext cx="493776" cy="0"/>
          </a:xfrm>
          <a:prstGeom prst="line">
            <a:avLst/>
          </a:prstGeom>
          <a:noFill/>
          <a:ln w="25400">
            <a:solidFill>
              <a:srgbClr val="68E0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45536" y="3017520"/>
            <a:ext cx="182880" cy="219456"/>
          </a:xfrm>
          <a:prstGeom prst="chevron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214884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102A23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2395728"/>
            <a:ext cx="256032" cy="256032"/>
          </a:xfrm>
          <a:prstGeom prst="ellipse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94176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bounds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health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127248"/>
            <a:ext cx="493776" cy="0"/>
          </a:xfrm>
          <a:prstGeom prst="line">
            <a:avLst/>
          </a:prstGeom>
          <a:noFill/>
          <a:ln w="25400">
            <a:solidFill>
              <a:srgbClr val="68E0B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80176" y="3017520"/>
            <a:ext cx="182880" cy="219456"/>
          </a:xfrm>
          <a:prstGeom prst="chevron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14884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102A23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0528" y="2395728"/>
            <a:ext cx="256032" cy="256032"/>
          </a:xfrm>
          <a:prstGeom prst="ellipse">
            <a:avLst/>
          </a:prstGeom>
          <a:solidFill>
            <a:srgbClr val="FFBE69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28816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 + fire 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pollution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3127248"/>
            <a:ext cx="493776" cy="0"/>
          </a:xfrm>
          <a:prstGeom prst="line">
            <a:avLst/>
          </a:prstGeom>
          <a:noFill/>
          <a:ln w="25400">
            <a:solidFill>
              <a:srgbClr val="68E0B5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814816" y="3017520"/>
            <a:ext cx="182880" cy="219456"/>
          </a:xfrm>
          <a:prstGeom prst="chevron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2288" y="214884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102A23"/>
          </a:solidFill>
          <a:ln w="12700">
            <a:solidFill>
              <a:srgbClr val="FF7C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5168" y="2395728"/>
            <a:ext cx="256032" cy="256032"/>
          </a:xfrm>
          <a:prstGeom prst="ellipse">
            <a:avLst/>
          </a:prstGeom>
          <a:solidFill>
            <a:srgbClr val="FF7C82"/>
          </a:solidFill>
          <a:ln w="12700">
            <a:solidFill>
              <a:srgbClr val="FF7C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7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63456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briefing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 workflow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64208" y="4709160"/>
            <a:ext cx="8869680" cy="594360"/>
          </a:xfrm>
          <a:prstGeom prst="roundRect">
            <a:avLst>
              <a:gd name="adj" fmla="val 18462"/>
            </a:avLst>
          </a:prstGeom>
          <a:solidFill>
            <a:srgbClr val="0C2A22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1952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 surface, not another data warehouse.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architecture built for live conditions.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provider calls, transparent risk functions, and a frontend that keeps evidence close to every score.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0287000" cy="621792"/>
          </a:xfrm>
          <a:prstGeom prst="roundRect">
            <a:avLst>
              <a:gd name="adj" fmla="val 17647"/>
            </a:avLst>
          </a:prstGeom>
          <a:solidFill>
            <a:srgbClr val="0D211C"/>
          </a:solidFill>
          <a:ln w="12700">
            <a:solidFill>
              <a:srgbClr val="6D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0482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6D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PROVIDERS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63240" y="2039112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   |   NASA FIRMS   |   CPCB   |   NASA POWER   |   Earth 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770632"/>
            <a:ext cx="10287000" cy="621792"/>
          </a:xfrm>
          <a:prstGeom prst="roundRect">
            <a:avLst>
              <a:gd name="adj" fmla="val 17647"/>
            </a:avLst>
          </a:prstGeom>
          <a:solidFill>
            <a:srgbClr val="12382E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9443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2935224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endpoints   |   CORS   |   error envelopes   |   provider diagnostics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666744"/>
            <a:ext cx="10287000" cy="621792"/>
          </a:xfrm>
          <a:prstGeom prst="roundRect">
            <a:avLst>
              <a:gd name="adj" fmla="val 17647"/>
            </a:avLst>
          </a:prstGeom>
          <a:solidFill>
            <a:srgbClr val="0D211C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840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3831336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 heuristic   |   fire score   |   pollution score   |   weighted overall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562856"/>
            <a:ext cx="10287000" cy="621792"/>
          </a:xfrm>
          <a:prstGeom prst="roundRect">
            <a:avLst>
              <a:gd name="adj" fmla="val 17647"/>
            </a:avLst>
          </a:prstGeom>
          <a:solidFill>
            <a:srgbClr val="0D211C"/>
          </a:solidFill>
          <a:ln w="12700">
            <a:solidFill>
              <a:srgbClr val="FF7C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365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FF7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63240" y="4727448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dashboard   |   Leaflet map   |   AI summary   |   Gemini briefing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result retains a source context and a human-readable explanation.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PRODUCT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workspace. Multiple ways to understand risk.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scanning first, then exploring the evidence behind a signal.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400800" cy="3493008"/>
          </a:xfrm>
          <a:prstGeom prst="roundRect">
            <a:avLst>
              <a:gd name="adj" fmla="val 3141"/>
            </a:avLst>
          </a:prstGeom>
          <a:solidFill>
            <a:srgbClr val="102A23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2496312"/>
            <a:ext cx="1627632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64261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RISK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8992" y="28620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724912" y="2496312"/>
            <a:ext cx="1627632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264261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89504" y="28620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C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535424" y="2496312"/>
            <a:ext cx="1627632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64261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QUALITY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0016" y="28620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7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 AQI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2852928" cy="1115568"/>
          </a:xfrm>
          <a:prstGeom prst="roundRect">
            <a:avLst>
              <a:gd name="adj" fmla="val 9836"/>
            </a:avLst>
          </a:prstGeom>
          <a:solidFill>
            <a:srgbClr val="102D27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9319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4370832"/>
            <a:ext cx="109728" cy="109728"/>
          </a:xfrm>
          <a:prstGeom prst="ellipse">
            <a:avLst/>
          </a:prstGeom>
          <a:solidFill>
            <a:srgbClr val="FF7C82"/>
          </a:solidFill>
          <a:ln w="12700">
            <a:solidFill>
              <a:srgbClr val="FF7C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38528" y="4178808"/>
            <a:ext cx="109728" cy="109728"/>
          </a:xfrm>
          <a:prstGeom prst="ellipse">
            <a:avLst/>
          </a:prstGeom>
          <a:solidFill>
            <a:srgbClr val="FFBE69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4526280"/>
            <a:ext cx="109728" cy="109728"/>
          </a:xfrm>
          <a:prstGeom prst="ellipse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3312" y="43159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environmental 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68496" y="3749040"/>
            <a:ext cx="2743200" cy="1115568"/>
          </a:xfrm>
          <a:prstGeom prst="roundRect">
            <a:avLst>
              <a:gd name="adj" fmla="val 9836"/>
            </a:avLst>
          </a:prstGeom>
          <a:solidFill>
            <a:srgbClr val="102D27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39319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SIGNAL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78808" y="4279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warning detected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78808" y="457200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quality risk is 76/100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35240" y="2084832"/>
            <a:ext cx="118872" cy="118872"/>
          </a:xfrm>
          <a:prstGeom prst="ellipse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0116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09560" y="225856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 point for current weather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2889504"/>
            <a:ext cx="118872" cy="118872"/>
          </a:xfrm>
          <a:prstGeom prst="ellipse">
            <a:avLst/>
          </a:prstGeom>
          <a:solidFill>
            <a:srgbClr val="6DAAFF"/>
          </a:solidFill>
          <a:ln w="12700">
            <a:solidFill>
              <a:srgbClr val="6DA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2816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Rainfall monitor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9560" y="306324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and 7-day precipitation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35240" y="3694176"/>
            <a:ext cx="118872" cy="118872"/>
          </a:xfrm>
          <a:prstGeom prst="ellipse">
            <a:avLst/>
          </a:prstGeom>
          <a:solidFill>
            <a:srgbClr val="FFBE69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3621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center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09560" y="386791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Threshold-based attention signals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35240" y="4498848"/>
            <a:ext cx="118872" cy="118872"/>
          </a:xfrm>
          <a:prstGeom prst="ellipse">
            <a:avLst/>
          </a:prstGeom>
          <a:solidFill>
            <a:srgbClr val="FF7C82"/>
          </a:solidFill>
          <a:ln w="12700">
            <a:solidFill>
              <a:srgbClr val="FF7C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44256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briefing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09560" y="467258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explains verified context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INTELLIGENCE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scores stay explainable.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EcoShield makes the evidence visible, then lets AI explain what the numbers mean without changing the calculated score.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657600" cy="3456432"/>
          </a:xfrm>
          <a:prstGeom prst="roundRect">
            <a:avLst>
              <a:gd name="adj" fmla="val 3175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945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 RISK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07008" y="2633472"/>
            <a:ext cx="1600200" cy="1600200"/>
          </a:xfrm>
          <a:prstGeom prst="ellipse">
            <a:avLst/>
          </a:prstGeom>
          <a:solidFill>
            <a:srgbClr val="173D34"/>
          </a:solidFill>
          <a:ln w="12700">
            <a:solidFill>
              <a:srgbClr val="173D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2825496"/>
            <a:ext cx="1216152" cy="1216152"/>
          </a:xfrm>
          <a:prstGeom prst="ellipse">
            <a:avLst/>
          </a:prstGeom>
          <a:solidFill>
            <a:srgbClr val="071412"/>
          </a:solidFill>
          <a:ln w="12700">
            <a:solidFill>
              <a:srgbClr val="0714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04288" y="32552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429768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4370832"/>
            <a:ext cx="502920" cy="0"/>
          </a:xfrm>
          <a:prstGeom prst="line">
            <a:avLst/>
          </a:prstGeom>
          <a:noFill/>
          <a:ln w="635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20440" y="4370832"/>
            <a:ext cx="341986" cy="0"/>
          </a:xfrm>
          <a:prstGeom prst="line">
            <a:avLst/>
          </a:prstGeom>
          <a:noFill/>
          <a:ln w="63500">
            <a:solidFill>
              <a:srgbClr val="6DAAF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2834640" y="459028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4663440"/>
            <a:ext cx="502920" cy="0"/>
          </a:xfrm>
          <a:prstGeom prst="line">
            <a:avLst/>
          </a:prstGeom>
          <a:noFill/>
          <a:ln w="635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20440" y="4663440"/>
            <a:ext cx="211226" cy="0"/>
          </a:xfrm>
          <a:prstGeom prst="line">
            <a:avLst/>
          </a:prstGeom>
          <a:noFill/>
          <a:ln w="63500">
            <a:solidFill>
              <a:srgbClr val="FFBE69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834640" y="4882896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Pollution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0440" y="4956048"/>
            <a:ext cx="502920" cy="0"/>
          </a:xfrm>
          <a:prstGeom prst="line">
            <a:avLst/>
          </a:prstGeom>
          <a:noFill/>
          <a:ln w="635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520440" y="4956048"/>
            <a:ext cx="382219" cy="0"/>
          </a:xfrm>
          <a:prstGeom prst="line">
            <a:avLst/>
          </a:prstGeom>
          <a:noFill/>
          <a:ln w="63500">
            <a:solidFill>
              <a:srgbClr val="FF7C8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166360" y="2176272"/>
            <a:ext cx="310896" cy="310896"/>
          </a:xfrm>
          <a:prstGeom prst="ellipse">
            <a:avLst/>
          </a:prstGeom>
          <a:solidFill>
            <a:srgbClr val="68E0B5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2494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0" y="2167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15000" y="2441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verified weather and hazard signals.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21808" y="2523744"/>
            <a:ext cx="0" cy="548640"/>
          </a:xfrm>
          <a:prstGeom prst="line">
            <a:avLst/>
          </a:prstGeom>
          <a:noFill/>
          <a:ln w="127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166360" y="3200400"/>
            <a:ext cx="310896" cy="310896"/>
          </a:xfrm>
          <a:prstGeom prst="ellipse">
            <a:avLst/>
          </a:prstGeom>
          <a:solidFill>
            <a:srgbClr val="FFBE69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735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15000" y="31912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715000" y="34655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threshold crossings and compounding drivers.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21808" y="3547872"/>
            <a:ext cx="0" cy="548640"/>
          </a:xfrm>
          <a:prstGeom prst="line">
            <a:avLst/>
          </a:prstGeom>
          <a:noFill/>
          <a:ln w="127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5166360" y="4224528"/>
            <a:ext cx="310896" cy="310896"/>
          </a:xfrm>
          <a:prstGeom prst="ellipse">
            <a:avLst/>
          </a:prstGeom>
          <a:solidFill>
            <a:srgbClr val="FF7C82"/>
          </a:solidFill>
          <a:ln w="12700">
            <a:solidFill>
              <a:srgbClr val="FF7C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2976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4215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715000" y="4489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concise, evidence-based briefing.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awareness to earlier action.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built to reduce cognitive load when environmental conditions change quickly.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514600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122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UNIFIED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" y="23317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5+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401568" y="1965960"/>
            <a:ext cx="2514600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122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DIMENSIONS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17336" y="1965960"/>
            <a:ext cx="2514600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21122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MAP LAYERS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81928" y="23317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8833104" y="1965960"/>
            <a:ext cx="2514600" cy="987552"/>
          </a:xfrm>
          <a:prstGeom prst="roundRect">
            <a:avLst>
              <a:gd name="adj" fmla="val 11111"/>
            </a:avLst>
          </a:prstGeom>
          <a:solidFill>
            <a:srgbClr val="0D211C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97696" y="21122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ENDPOINTS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97696" y="23317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7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15+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13232" y="3374136"/>
            <a:ext cx="10442448" cy="0"/>
          </a:xfrm>
          <a:prstGeom prst="line">
            <a:avLst/>
          </a:prstGeom>
          <a:noFill/>
          <a:ln w="127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13232" y="3520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3520440"/>
            <a:ext cx="7269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local conditions before a warning becomes a crisis.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4087368"/>
            <a:ext cx="10442448" cy="0"/>
          </a:xfrm>
          <a:prstGeom prst="line">
            <a:avLst/>
          </a:prstGeom>
          <a:noFill/>
          <a:ln w="127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13232" y="4233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teams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4233672"/>
            <a:ext cx="7269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locations with the strongest combined signals.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" y="4800600"/>
            <a:ext cx="10442448" cy="0"/>
          </a:xfrm>
          <a:prstGeom prst="line">
            <a:avLst/>
          </a:prstGeom>
          <a:noFill/>
          <a:ln w="12700">
            <a:solidFill>
              <a:srgbClr val="24473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713232" y="4946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4946904"/>
            <a:ext cx="7269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provider health, provenance, and risk drivers in one view.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" y="5623560"/>
            <a:ext cx="10424160" cy="384048"/>
          </a:xfrm>
          <a:prstGeom prst="roundRect">
            <a:avLst>
              <a:gd name="adj" fmla="val 28571"/>
            </a:avLst>
          </a:prstGeom>
          <a:solidFill>
            <a:srgbClr val="102A23"/>
          </a:solidFill>
          <a:ln w="12700">
            <a:solidFill>
              <a:srgbClr val="2447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733288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outcome: faster orientation, clearer decisions, better prepared communities.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move from prototype to public utility.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foundation is live. The next layer is scale, validation, and trusted local partnerships.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246120" cy="2240280"/>
          </a:xfrm>
          <a:prstGeom prst="roundRect">
            <a:avLst>
              <a:gd name="adj" fmla="val 4898"/>
            </a:avLst>
          </a:prstGeom>
          <a:solidFill>
            <a:srgbClr val="102A23"/>
          </a:solidFill>
          <a:ln w="12700">
            <a:solidFill>
              <a:srgbClr val="68E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dashboard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health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2011680"/>
            <a:ext cx="3246120" cy="2240280"/>
          </a:xfrm>
          <a:prstGeom prst="roundRect">
            <a:avLst>
              <a:gd name="adj" fmla="val 4898"/>
            </a:avLst>
          </a:prstGeom>
          <a:solidFill>
            <a:srgbClr val="102A23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deployment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 pilots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subscriptions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baselines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246120" cy="2240280"/>
          </a:xfrm>
          <a:prstGeom prst="roundRect">
            <a:avLst>
              <a:gd name="adj" fmla="val 4898"/>
            </a:avLst>
          </a:prstGeom>
          <a:solidFill>
            <a:srgbClr val="102A23"/>
          </a:solidFill>
          <a:ln w="12700">
            <a:solidFill>
              <a:srgbClr val="6D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D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49640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F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network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4964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warnings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satellite models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1A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feedback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8E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EcoShield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" y="5468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F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signal. Understand the risk. Act earlier.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89720" y="5413248"/>
            <a:ext cx="2057400" cy="292608"/>
          </a:xfrm>
          <a:prstGeom prst="roundRect">
            <a:avLst>
              <a:gd name="adj" fmla="val 43750"/>
            </a:avLst>
          </a:prstGeom>
          <a:solidFill>
            <a:srgbClr val="12352D"/>
          </a:solidFill>
          <a:ln w="12700">
            <a:solidFill>
              <a:srgbClr val="FFBE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54315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FFB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/  QUESTIONS?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8B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EcoShield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EcoShield Environmental Intelligence Platform</dc:title>
  <dc:subject>Hackathon presentation</dc:subject>
  <dc:creator>EcoShield</dc:creator>
  <cp:lastModifiedBy>EcoShield</cp:lastModifiedBy>
  <cp:revision>1</cp:revision>
  <dcterms:created xsi:type="dcterms:W3CDTF">2026-09-06T08:05:54Z</dcterms:created>
  <dcterms:modified xsi:type="dcterms:W3CDTF">2026-09-06T08:05:54Z</dcterms:modified>
</cp:coreProperties>
</file>